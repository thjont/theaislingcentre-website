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6" r:id="rId3"/>
  </p:sldMasterIdLst>
  <p:sldIdLst>
    <p:sldId id="273" r:id="rId4"/>
    <p:sldId id="386" r:id="rId5"/>
    <p:sldId id="272" r:id="rId6"/>
    <p:sldId id="258" r:id="rId7"/>
    <p:sldId id="387" r:id="rId8"/>
    <p:sldId id="389" r:id="rId9"/>
    <p:sldId id="388" r:id="rId1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22106F-F4AF-46D8-87A0-1DBE9C1A674B}" v="5" dt="2024-05-01T11:58:35.678"/>
    <p1510:client id="{D9803099-11D8-4637-B7C1-A8CC4C165296}" v="14" dt="2024-05-01T11:22:41.6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111" d="100"/>
          <a:sy n="111" d="100"/>
        </p:scale>
        <p:origin x="30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dirty="0"/>
              <a:t>Click to edit Master subtitle style</a:t>
            </a:r>
          </a:p>
        </p:txBody>
      </p:sp>
      <p:sp>
        <p:nvSpPr>
          <p:cNvPr id="4" name="Date Placeholder 3"/>
          <p:cNvSpPr>
            <a:spLocks noGrp="1"/>
          </p:cNvSpPr>
          <p:nvPr>
            <p:ph type="dt" sz="half" idx="10"/>
          </p:nvPr>
        </p:nvSpPr>
        <p:spPr/>
        <p:txBody>
          <a:bodyPr/>
          <a:lstStyle/>
          <a:p>
            <a:fld id="{4BDF68E2-58F2-4D09-BE8B-E3BD06533059}" type="datetimeFigureOut">
              <a:rPr lang="en-US" dirty="0"/>
              <a:t>5/2/2024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1180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28FC5F6-F338-4AE4-BB23-26385BCFC423}" type="datetimeFigureOut">
              <a:rPr lang="en-US" dirty="0"/>
              <a:t>5/2/2024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dirty="0"/>
              <a:t>‹#›</a:t>
            </a:fld>
            <a:endParaRPr lang="en-US" dirty="0"/>
          </a:p>
        </p:txBody>
      </p:sp>
    </p:spTree>
    <p:extLst>
      <p:ext uri="{BB962C8B-B14F-4D97-AF65-F5344CB8AC3E}">
        <p14:creationId xmlns:p14="http://schemas.microsoft.com/office/powerpoint/2010/main" val="1826111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dirty="0"/>
              <a:t>Click to edit Master title style</a:t>
            </a:r>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20EBB0C4-6273-4C6E-B9BD-2EDC30F1CD52}" type="datetimeFigureOut">
              <a:rPr lang="en-US" dirty="0"/>
              <a:t>5/2/2024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683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dirty="0"/>
              <a:t>Click to edit Master title style</a:t>
            </a:r>
          </a:p>
        </p:txBody>
      </p:sp>
      <p:sp>
        <p:nvSpPr>
          <p:cNvPr id="3" name="Content Placeholder 2"/>
          <p:cNvSpPr>
            <a:spLocks noGrp="1"/>
          </p:cNvSpPr>
          <p:nvPr>
            <p:ph sz="half" idx="1"/>
          </p:nvPr>
        </p:nvSpPr>
        <p:spPr>
          <a:xfrm>
            <a:off x="1097279" y="1845734"/>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217920" y="1845735"/>
            <a:ext cx="4937760" cy="40233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19AB4D41-86C1-4908-B66A-0B50CEB3BF29}" type="datetimeFigureOut">
              <a:rPr lang="en-US" dirty="0"/>
              <a:t>5/2/2024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418910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dirty="0"/>
              <a:t>Click to edit Master title style</a:t>
            </a:r>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6426E2C-56C1-4E0D-A793-0088A7FDD37E}" type="datetimeFigureOut">
              <a:rPr lang="en-US" dirty="0"/>
              <a:t>5/2/2024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3600021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8C39B41-D8B5-4052-B551-9B5525EAA8B6}" type="datetimeFigureOut">
              <a:rPr lang="en-US" dirty="0"/>
              <a:t>5/2/2024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047489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D94136C-8742-45B2-AF27-D93DF72833A9}" type="datetimeFigureOut">
              <a:rPr lang="en-US" dirty="0"/>
              <a:t>5/2/2024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extLst>
      <p:ext uri="{BB962C8B-B14F-4D97-AF65-F5344CB8AC3E}">
        <p14:creationId xmlns:p14="http://schemas.microsoft.com/office/powerpoint/2010/main" val="20426832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dirty="0"/>
              <a:t>Click to edit Master title style</a:t>
            </a:r>
          </a:p>
        </p:txBody>
      </p:sp>
      <p:sp>
        <p:nvSpPr>
          <p:cNvPr id="3" name="Content Placeholder 2"/>
          <p:cNvSpPr>
            <a:spLocks noGrp="1"/>
          </p:cNvSpPr>
          <p:nvPr>
            <p:ph idx="1"/>
          </p:nvPr>
        </p:nvSpPr>
        <p:spPr>
          <a:xfrm>
            <a:off x="4800600" y="731520"/>
            <a:ext cx="6492240" cy="5257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32ABBEA6-7C60-4B02-AE87-00D78D8422AF}" type="datetimeFigureOut">
              <a:rPr lang="en-US" dirty="0"/>
              <a:t>5/2/2024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dirty="0"/>
              <a:pPr/>
              <a:t>‹#›</a:t>
            </a:fld>
            <a:endParaRPr lang="en-US" dirty="0"/>
          </a:p>
        </p:txBody>
      </p:sp>
    </p:spTree>
    <p:extLst>
      <p:ext uri="{BB962C8B-B14F-4D97-AF65-F5344CB8AC3E}">
        <p14:creationId xmlns:p14="http://schemas.microsoft.com/office/powerpoint/2010/main" val="278711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dirty="0"/>
              <a:t>Click to edit Master title style</a:t>
            </a:r>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9CAD897-D46E-4AD2-BD9B-49DD3E640873}" type="datetimeFigureOut">
              <a:rPr lang="en-US" dirty="0"/>
              <a:t>5/2/2024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12975628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E2D6473-DF6D-4702-B328-E0DD40540A4E}" type="datetimeFigureOut">
              <a:rPr lang="en-US" dirty="0"/>
              <a:t>5/2/2024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146496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26F7E3A-B166-407D-9866-32884E7D5B37}" type="datetimeFigureOut">
              <a:rPr lang="en-US" dirty="0"/>
              <a:t>5/2/2024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extLst>
      <p:ext uri="{BB962C8B-B14F-4D97-AF65-F5344CB8AC3E}">
        <p14:creationId xmlns:p14="http://schemas.microsoft.com/office/powerpoint/2010/main" val="23135279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chemeClr val="tx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0725090-EFF8-1592-4753-74D67D4127C1}"/>
              </a:ext>
            </a:extLst>
          </p:cNvPr>
          <p:cNvSpPr>
            <a:spLocks noGrp="1"/>
          </p:cNvSpPr>
          <p:nvPr>
            <p:ph type="title"/>
          </p:nvPr>
        </p:nvSpPr>
        <p:spPr>
          <a:xfrm>
            <a:off x="914400" y="815340"/>
            <a:ext cx="9569226" cy="1188720"/>
          </a:xfrm>
          <a:prstGeom prst="rect">
            <a:avLst/>
          </a:prstGeom>
          <a:noFill/>
          <a:ln>
            <a:noFill/>
          </a:ln>
        </p:spPr>
        <p:txBody>
          <a:bodyPr>
            <a:noAutofit/>
          </a:bodyPr>
          <a:lstStyle>
            <a:lvl1pPr algn="l">
              <a:defRPr lang="en-GB" sz="3600" b="1" kern="1200" cap="all" spc="-100" baseline="0" dirty="0">
                <a:solidFill>
                  <a:schemeClr val="accent1">
                    <a:lumMod val="20000"/>
                    <a:lumOff val="80000"/>
                  </a:schemeClr>
                </a:solidFill>
                <a:latin typeface="+mj-lt"/>
                <a:ea typeface="+mj-ea"/>
                <a:cs typeface="+mj-cs"/>
              </a:defRPr>
            </a:lvl1pPr>
          </a:lstStyle>
          <a:p>
            <a:r>
              <a:rPr lang="en-GB" dirty="0"/>
              <a:t>Click to edit Master title style</a:t>
            </a:r>
          </a:p>
        </p:txBody>
      </p:sp>
      <p:sp>
        <p:nvSpPr>
          <p:cNvPr id="5" name="Content Placeholder 6">
            <a:extLst>
              <a:ext uri="{FF2B5EF4-FFF2-40B4-BE49-F238E27FC236}">
                <a16:creationId xmlns:a16="http://schemas.microsoft.com/office/drawing/2014/main" id="{06D0EDCE-8731-B9A3-37D2-A737BACD0E7A}"/>
              </a:ext>
            </a:extLst>
          </p:cNvPr>
          <p:cNvSpPr>
            <a:spLocks noGrp="1"/>
          </p:cNvSpPr>
          <p:nvPr>
            <p:ph sz="quarter" idx="10"/>
          </p:nvPr>
        </p:nvSpPr>
        <p:spPr>
          <a:xfrm>
            <a:off x="914399" y="2060575"/>
            <a:ext cx="9569225" cy="3477340"/>
          </a:xfrm>
          <a:prstGeom prst="rect">
            <a:avLst/>
          </a:prstGeom>
        </p:spPr>
        <p:txBody>
          <a:bodyPr>
            <a:normAutofit/>
          </a:bodyPr>
          <a:lstStyle>
            <a:lvl1pPr>
              <a:defRPr sz="2800">
                <a:solidFill>
                  <a:schemeClr val="bg1"/>
                </a:solidFill>
              </a:defRPr>
            </a:lvl1pPr>
            <a:lvl2pPr>
              <a:defRPr sz="2400">
                <a:solidFill>
                  <a:schemeClr val="bg1"/>
                </a:solidFill>
              </a:defRPr>
            </a:lvl2pPr>
            <a:lvl3pPr>
              <a:defRPr sz="2400">
                <a:solidFill>
                  <a:schemeClr val="bg1"/>
                </a:solidFill>
              </a:defRPr>
            </a:lvl3pPr>
            <a:lvl4pPr>
              <a:defRPr sz="2400">
                <a:solidFill>
                  <a:schemeClr val="bg1"/>
                </a:solidFill>
              </a:defRPr>
            </a:lvl4pPr>
            <a:lvl5pPr>
              <a:defRPr sz="2400">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989996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A4371-4FD9-4ECC-EE85-58B8B39612CB}"/>
              </a:ext>
            </a:extLst>
          </p:cNvPr>
          <p:cNvSpPr>
            <a:spLocks noGrp="1"/>
          </p:cNvSpPr>
          <p:nvPr>
            <p:ph type="title"/>
          </p:nvPr>
        </p:nvSpPr>
        <p:spPr>
          <a:xfrm>
            <a:off x="914400" y="815340"/>
            <a:ext cx="9569226" cy="1188720"/>
          </a:xfrm>
          <a:prstGeom prst="rect">
            <a:avLst/>
          </a:prstGeom>
          <a:noFill/>
          <a:ln>
            <a:noFill/>
          </a:ln>
        </p:spPr>
        <p:txBody>
          <a:bodyPr>
            <a:noAutofit/>
          </a:bodyPr>
          <a:lstStyle>
            <a:lvl1pPr algn="l">
              <a:defRPr lang="en-GB" sz="3600" b="1" kern="1200" cap="all" spc="-100" baseline="0" dirty="0">
                <a:solidFill>
                  <a:schemeClr val="tx1"/>
                </a:solidFill>
                <a:latin typeface="+mj-lt"/>
                <a:ea typeface="+mj-ea"/>
                <a:cs typeface="+mj-cs"/>
              </a:defRPr>
            </a:lvl1pPr>
          </a:lstStyle>
          <a:p>
            <a:r>
              <a:rPr lang="en-GB" dirty="0"/>
              <a:t>Click to edit Master title style</a:t>
            </a:r>
          </a:p>
        </p:txBody>
      </p:sp>
      <p:sp>
        <p:nvSpPr>
          <p:cNvPr id="4" name="Freeform 2">
            <a:extLst>
              <a:ext uri="{FF2B5EF4-FFF2-40B4-BE49-F238E27FC236}">
                <a16:creationId xmlns:a16="http://schemas.microsoft.com/office/drawing/2014/main" id="{7629347A-AB0D-C044-D431-FFBA1F69865B}"/>
              </a:ext>
            </a:extLst>
          </p:cNvPr>
          <p:cNvSpPr/>
          <p:nvPr userDrawn="1"/>
        </p:nvSpPr>
        <p:spPr>
          <a:xfrm flipH="1">
            <a:off x="0" y="5081712"/>
            <a:ext cx="12192000" cy="2632461"/>
          </a:xfrm>
          <a:custGeom>
            <a:avLst/>
            <a:gdLst/>
            <a:ahLst/>
            <a:cxnLst/>
            <a:rect l="l" t="t" r="r" b="b"/>
            <a:pathLst>
              <a:path w="18288000" h="9509760">
                <a:moveTo>
                  <a:pt x="18288000" y="0"/>
                </a:moveTo>
                <a:lnTo>
                  <a:pt x="0" y="0"/>
                </a:lnTo>
                <a:lnTo>
                  <a:pt x="0" y="9509760"/>
                </a:lnTo>
                <a:lnTo>
                  <a:pt x="18288000" y="9509760"/>
                </a:lnTo>
                <a:lnTo>
                  <a:pt x="1828800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pic>
        <p:nvPicPr>
          <p:cNvPr id="5" name="Picture 4" descr="A blue triangle with white lines&#10;&#10;Description automatically generated">
            <a:extLst>
              <a:ext uri="{FF2B5EF4-FFF2-40B4-BE49-F238E27FC236}">
                <a16:creationId xmlns:a16="http://schemas.microsoft.com/office/drawing/2014/main" id="{0E4BDF4B-777D-2FF5-41E6-A3E51737EA5C}"/>
              </a:ext>
            </a:extLst>
          </p:cNvPr>
          <p:cNvPicPr>
            <a:picLocks noChangeAspect="1"/>
          </p:cNvPicPr>
          <p:nvPr userDrawn="1"/>
        </p:nvPicPr>
        <p:blipFill>
          <a:blip r:embed="rId4" cstate="print">
            <a:extLst>
              <a:ext uri="{BEBA8EAE-BF5A-486C-A8C5-ECC9F3942E4B}">
                <a14:imgProps xmlns:a14="http://schemas.microsoft.com/office/drawing/2010/main">
                  <a14:imgLayer r:embed="rId5">
                    <a14:imgEffect>
                      <a14:backgroundRemoval t="10000" b="90000" l="10000" r="90000"/>
                    </a14:imgEffect>
                  </a14:imgLayer>
                </a14:imgProps>
              </a:ext>
              <a:ext uri="{28A0092B-C50C-407E-A947-70E740481C1C}">
                <a14:useLocalDpi xmlns:a14="http://schemas.microsoft.com/office/drawing/2010/main" val="0"/>
              </a:ext>
            </a:extLst>
          </a:blip>
          <a:stretch>
            <a:fillRect/>
          </a:stretch>
        </p:blipFill>
        <p:spPr>
          <a:xfrm>
            <a:off x="198783" y="6082747"/>
            <a:ext cx="715617" cy="715617"/>
          </a:xfrm>
          <a:prstGeom prst="rect">
            <a:avLst/>
          </a:prstGeom>
        </p:spPr>
      </p:pic>
      <p:sp>
        <p:nvSpPr>
          <p:cNvPr id="7" name="Content Placeholder 6">
            <a:extLst>
              <a:ext uri="{FF2B5EF4-FFF2-40B4-BE49-F238E27FC236}">
                <a16:creationId xmlns:a16="http://schemas.microsoft.com/office/drawing/2014/main" id="{73224539-26A0-B7B1-A43B-7F12FEC96EEB}"/>
              </a:ext>
            </a:extLst>
          </p:cNvPr>
          <p:cNvSpPr>
            <a:spLocks noGrp="1"/>
          </p:cNvSpPr>
          <p:nvPr>
            <p:ph sz="quarter" idx="10"/>
          </p:nvPr>
        </p:nvSpPr>
        <p:spPr>
          <a:xfrm>
            <a:off x="914399" y="2060575"/>
            <a:ext cx="9569225" cy="3477340"/>
          </a:xfrm>
          <a:prstGeom prst="rect">
            <a:avLst/>
          </a:prstGeom>
        </p:spPr>
        <p:txBody>
          <a:bodyPr>
            <a:normAutofit/>
          </a:bodyPr>
          <a:lstStyle>
            <a:lvl1pPr>
              <a:defRPr sz="2800"/>
            </a:lvl1pPr>
            <a:lvl2pPr>
              <a:defRPr sz="2400"/>
            </a:lvl2pPr>
            <a:lvl3pPr>
              <a:defRPr sz="2400"/>
            </a:lvl3pPr>
            <a:lvl4pPr>
              <a:defRPr sz="2400"/>
            </a:lvl4pPr>
            <a:lvl5pPr>
              <a:defRPr sz="24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8" name="TextBox 7">
            <a:extLst>
              <a:ext uri="{FF2B5EF4-FFF2-40B4-BE49-F238E27FC236}">
                <a16:creationId xmlns:a16="http://schemas.microsoft.com/office/drawing/2014/main" id="{93E7A895-90F5-51B3-91BF-6A9EDAA38EA1}"/>
              </a:ext>
            </a:extLst>
          </p:cNvPr>
          <p:cNvSpPr txBox="1"/>
          <p:nvPr userDrawn="1"/>
        </p:nvSpPr>
        <p:spPr>
          <a:xfrm>
            <a:off x="10457622" y="6604084"/>
            <a:ext cx="1933161" cy="253916"/>
          </a:xfrm>
          <a:prstGeom prst="rect">
            <a:avLst/>
          </a:prstGeom>
          <a:noFill/>
        </p:spPr>
        <p:txBody>
          <a:bodyPr wrap="square">
            <a:spAutoFit/>
          </a:bodyPr>
          <a:lstStyle/>
          <a:p>
            <a:r>
              <a:rPr lang="en-US" sz="1050" dirty="0">
                <a:solidFill>
                  <a:schemeClr val="bg1"/>
                </a:solidFill>
                <a:latin typeface="Montserrat" panose="00000500000000000000" pitchFamily="2" charset="0"/>
              </a:rPr>
              <a:t>DR. ANDREA LATIMER</a:t>
            </a:r>
            <a:endParaRPr lang="en-US" sz="1050" dirty="0">
              <a:solidFill>
                <a:schemeClr val="bg1"/>
              </a:solidFill>
            </a:endParaRPr>
          </a:p>
        </p:txBody>
      </p:sp>
    </p:spTree>
    <p:extLst>
      <p:ext uri="{BB962C8B-B14F-4D97-AF65-F5344CB8AC3E}">
        <p14:creationId xmlns:p14="http://schemas.microsoft.com/office/powerpoint/2010/main" val="1694886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98624D31-43A5-475A-80CF-332C9F6DCF35}" type="datetimeFigureOut">
              <a:rPr lang="en-US" dirty="0"/>
              <a:t>5/2/2024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FAB73BC-B049-4115-A692-8D63A059BFB8}" type="slidenum">
              <a:rPr lang="en-US" dirty="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153867"/>
      </p:ext>
    </p:extLst>
  </p:cSld>
  <p:clrMap bg1="lt1" tx1="dk1" bg2="lt2" tx2="dk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menopausetogether.org/" TargetMode="Externa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hyperlink" Target="https://www.sciencedirect.com/science/article/abs/pii/S1521693421001693?via%3Dihub" TargetMode="External"/><Relationship Id="rId3" Type="http://schemas.openxmlformats.org/officeDocument/2006/relationships/hyperlink" Target="https://www.babcp.com/What-is-CBT" TargetMode="External"/><Relationship Id="rId7" Type="http://schemas.openxmlformats.org/officeDocument/2006/relationships/hyperlink" Target="https://www.nice.org.uk/guidance/ng23/resources/endorsed-resource-cognitive-behaviour-therapy-for-menopausal-symptoms-information-for-gps-and-health-professionals-4414178557" TargetMode="External"/><Relationship Id="rId2" Type="http://schemas.openxmlformats.org/officeDocument/2006/relationships/hyperlink" Target="https://www.mentalhealth.org.uk/england/explore-mental-health/a-z-topics/menopause" TargetMode="External"/><Relationship Id="rId1" Type="http://schemas.openxmlformats.org/officeDocument/2006/relationships/slideLayout" Target="../slideLayouts/slideLayout2.xml"/><Relationship Id="rId6" Type="http://schemas.openxmlformats.org/officeDocument/2006/relationships/hyperlink" Target="https://pubmed.ncbi.nlm.nih.gov/22336748/" TargetMode="External"/><Relationship Id="rId5" Type="http://schemas.openxmlformats.org/officeDocument/2006/relationships/hyperlink" Target="https://pubmed.ncbi.nlm.nih.gov/32627593/" TargetMode="External"/><Relationship Id="rId4" Type="http://schemas.openxmlformats.org/officeDocument/2006/relationships/hyperlink" Target="https://www.nice.org.uk/guidance/NG23" TargetMode="External"/><Relationship Id="rId9" Type="http://schemas.openxmlformats.org/officeDocument/2006/relationships/hyperlink" Target="https://www.who.int/data/gho/data/themes/theme-details/GHO/mental-health#:~:text=Mental%20health%20is%20a%20state,to%20his%20or%20her%20communit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www.menopausetogether.org/" TargetMode="Externa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C9C19F-83E6-DD58-F831-7D89A626EFAA}"/>
              </a:ext>
            </a:extLst>
          </p:cNvPr>
          <p:cNvSpPr>
            <a:spLocks noGrp="1"/>
          </p:cNvSpPr>
          <p:nvPr>
            <p:ph type="title"/>
          </p:nvPr>
        </p:nvSpPr>
        <p:spPr>
          <a:xfrm>
            <a:off x="914400" y="315008"/>
            <a:ext cx="9569226" cy="1188720"/>
          </a:xfrm>
        </p:spPr>
        <p:txBody>
          <a:bodyPr/>
          <a:lstStyle/>
          <a:p>
            <a:r>
              <a:rPr lang="en-GB" dirty="0"/>
              <a:t>Useful Resources</a:t>
            </a:r>
            <a:endParaRPr lang="en-US" dirty="0"/>
          </a:p>
        </p:txBody>
      </p:sp>
      <p:sp>
        <p:nvSpPr>
          <p:cNvPr id="3" name="Content Placeholder 2"/>
          <p:cNvSpPr>
            <a:spLocks noGrp="1"/>
          </p:cNvSpPr>
          <p:nvPr>
            <p:ph sz="quarter" idx="10"/>
          </p:nvPr>
        </p:nvSpPr>
        <p:spPr>
          <a:xfrm>
            <a:off x="914400" y="1690687"/>
            <a:ext cx="9569450" cy="3885865"/>
          </a:xfrm>
        </p:spPr>
        <p:txBody>
          <a:bodyPr>
            <a:normAutofit fontScale="62500" lnSpcReduction="20000"/>
          </a:bodyPr>
          <a:lstStyle/>
          <a:p>
            <a:r>
              <a:rPr lang="en-GB" sz="3800" dirty="0"/>
              <a:t>https://www.womens-health-concern.org </a:t>
            </a:r>
          </a:p>
          <a:p>
            <a:r>
              <a:rPr lang="en-GB" sz="3800" dirty="0"/>
              <a:t>https://www.rcog.org.uk/en/ patients/menopause</a:t>
            </a:r>
          </a:p>
          <a:p>
            <a:r>
              <a:rPr lang="en-GB" sz="3800" dirty="0"/>
              <a:t>https://pcwhf.co.uk/resources </a:t>
            </a:r>
          </a:p>
          <a:p>
            <a:r>
              <a:rPr lang="en-GB" sz="3800" dirty="0"/>
              <a:t>https://rockmymenopause.com</a:t>
            </a:r>
          </a:p>
          <a:p>
            <a:r>
              <a:rPr lang="en-GB" sz="3800" dirty="0"/>
              <a:t>https://www.menopausematters.co.uk</a:t>
            </a:r>
          </a:p>
          <a:p>
            <a:r>
              <a:rPr lang="en-GB" sz="3800" dirty="0"/>
              <a:t>https://www.daisynetwork.org</a:t>
            </a:r>
          </a:p>
          <a:p>
            <a:r>
              <a:rPr lang="en-GB" sz="3800" u="sng" kern="0" dirty="0">
                <a:effectLst/>
                <a:ea typeface="Times New Roman" panose="02020603050405020304" pitchFamily="18" charset="0"/>
                <a:hlinkClick r:id="rId2">
                  <a:extLst>
                    <a:ext uri="{A12FA001-AC4F-418D-AE19-62706E023703}">
                      <ahyp:hlinkClr xmlns:ahyp="http://schemas.microsoft.com/office/drawing/2018/hyperlinkcolor" val="tx"/>
                    </a:ext>
                  </a:extLst>
                </a:hlinkClick>
              </a:rPr>
              <a:t>www.menopausetogether.org/</a:t>
            </a:r>
            <a:r>
              <a:rPr lang="en-GB" sz="3800" u="sng" kern="0" dirty="0">
                <a:effectLst/>
                <a:ea typeface="Times New Roman" panose="02020603050405020304" pitchFamily="18" charset="0"/>
              </a:rPr>
              <a:t>  N</a:t>
            </a:r>
            <a:r>
              <a:rPr lang="en-GB" sz="3800" dirty="0"/>
              <a:t>I menopause charity</a:t>
            </a:r>
          </a:p>
          <a:p>
            <a:r>
              <a:rPr lang="en-GB" sz="3800" dirty="0"/>
              <a:t>Referral by GP to menopause specialist-GPECs or Mater Hospital</a:t>
            </a:r>
          </a:p>
          <a:p>
            <a:r>
              <a:rPr lang="en-GB" sz="3800"/>
              <a:t>Referral </a:t>
            </a:r>
            <a:r>
              <a:rPr lang="en-GB" sz="3800" dirty="0"/>
              <a:t>to Occupational Health</a:t>
            </a: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F49EC-4780-7C06-B638-88B2EB7D9866}"/>
              </a:ext>
            </a:extLst>
          </p:cNvPr>
          <p:cNvSpPr>
            <a:spLocks noGrp="1"/>
          </p:cNvSpPr>
          <p:nvPr>
            <p:ph type="title"/>
          </p:nvPr>
        </p:nvSpPr>
        <p:spPr>
          <a:xfrm>
            <a:off x="528034" y="815340"/>
            <a:ext cx="11277600" cy="1188674"/>
          </a:xfrm>
        </p:spPr>
        <p:txBody>
          <a:bodyPr anchor="t">
            <a:normAutofit/>
          </a:bodyPr>
          <a:lstStyle/>
          <a:p>
            <a:r>
              <a:rPr lang="en-GB" dirty="0"/>
              <a:t>Dr Latimer’s Top Tips for Managing Menopause</a:t>
            </a:r>
          </a:p>
        </p:txBody>
      </p:sp>
      <p:sp>
        <p:nvSpPr>
          <p:cNvPr id="3" name="Content Placeholder 2">
            <a:extLst>
              <a:ext uri="{FF2B5EF4-FFF2-40B4-BE49-F238E27FC236}">
                <a16:creationId xmlns:a16="http://schemas.microsoft.com/office/drawing/2014/main" id="{B6369211-865B-33C0-D7AF-88286EB4E303}"/>
              </a:ext>
            </a:extLst>
          </p:cNvPr>
          <p:cNvSpPr>
            <a:spLocks noGrp="1"/>
          </p:cNvSpPr>
          <p:nvPr>
            <p:ph sz="quarter" idx="10"/>
          </p:nvPr>
        </p:nvSpPr>
        <p:spPr>
          <a:xfrm>
            <a:off x="3454398" y="1542797"/>
            <a:ext cx="8548712" cy="5141337"/>
          </a:xfrm>
        </p:spPr>
        <p:txBody>
          <a:bodyPr>
            <a:normAutofit fontScale="55000" lnSpcReduction="20000"/>
          </a:bodyPr>
          <a:lstStyle/>
          <a:p>
            <a:pPr>
              <a:lnSpc>
                <a:spcPct val="120000"/>
              </a:lnSpc>
              <a:spcAft>
                <a:spcPts val="600"/>
              </a:spcAft>
            </a:pPr>
            <a:r>
              <a:rPr lang="en-GB" sz="3400" dirty="0">
                <a:solidFill>
                  <a:schemeClr val="accent6">
                    <a:lumMod val="50000"/>
                  </a:schemeClr>
                </a:solidFill>
              </a:rPr>
              <a:t>Educate yourself about symptoms of menopause &amp; management options </a:t>
            </a:r>
          </a:p>
          <a:p>
            <a:pPr>
              <a:lnSpc>
                <a:spcPct val="120000"/>
              </a:lnSpc>
              <a:spcAft>
                <a:spcPts val="600"/>
              </a:spcAft>
            </a:pPr>
            <a:r>
              <a:rPr lang="en-GB" sz="3400" dirty="0">
                <a:solidFill>
                  <a:schemeClr val="accent6">
                    <a:lumMod val="50000"/>
                  </a:schemeClr>
                </a:solidFill>
              </a:rPr>
              <a:t>Know your own body. Keep a menopause symptom diary using an app or notebook</a:t>
            </a:r>
          </a:p>
          <a:p>
            <a:pPr>
              <a:lnSpc>
                <a:spcPct val="120000"/>
              </a:lnSpc>
              <a:spcAft>
                <a:spcPts val="600"/>
              </a:spcAft>
            </a:pPr>
            <a:r>
              <a:rPr lang="en-GB" sz="3400" dirty="0">
                <a:solidFill>
                  <a:schemeClr val="accent6">
                    <a:lumMod val="50000"/>
                  </a:schemeClr>
                </a:solidFill>
              </a:rPr>
              <a:t>Don’t suffer in silence- visit a doctor or other health professional with a clinical interest in women’s health</a:t>
            </a:r>
          </a:p>
          <a:p>
            <a:pPr>
              <a:lnSpc>
                <a:spcPct val="120000"/>
              </a:lnSpc>
              <a:spcAft>
                <a:spcPts val="600"/>
              </a:spcAft>
            </a:pPr>
            <a:r>
              <a:rPr lang="en-GB" sz="3400" dirty="0">
                <a:solidFill>
                  <a:schemeClr val="accent6">
                    <a:lumMod val="50000"/>
                  </a:schemeClr>
                </a:solidFill>
              </a:rPr>
              <a:t>Don’t put up with bothersome symptoms &amp; deny yourself treatment if you need it- there are always options</a:t>
            </a:r>
          </a:p>
          <a:p>
            <a:pPr>
              <a:lnSpc>
                <a:spcPct val="120000"/>
              </a:lnSpc>
              <a:spcAft>
                <a:spcPts val="600"/>
              </a:spcAft>
            </a:pPr>
            <a:r>
              <a:rPr lang="en-GB" sz="3400" dirty="0">
                <a:solidFill>
                  <a:schemeClr val="accent6">
                    <a:lumMod val="50000"/>
                  </a:schemeClr>
                </a:solidFill>
              </a:rPr>
              <a:t>Your lifestyle underpins all health conditions *WINDOW OF OPPORTUNITY*</a:t>
            </a:r>
          </a:p>
          <a:p>
            <a:pPr>
              <a:lnSpc>
                <a:spcPct val="120000"/>
              </a:lnSpc>
              <a:spcAft>
                <a:spcPts val="600"/>
              </a:spcAft>
            </a:pPr>
            <a:r>
              <a:rPr lang="en-GB" sz="3400" dirty="0">
                <a:solidFill>
                  <a:schemeClr val="accent6">
                    <a:lumMod val="50000"/>
                  </a:schemeClr>
                </a:solidFill>
              </a:rPr>
              <a:t>Share your experience- let those around you know if you are struggling</a:t>
            </a:r>
          </a:p>
          <a:p>
            <a:pPr>
              <a:lnSpc>
                <a:spcPct val="120000"/>
              </a:lnSpc>
              <a:spcAft>
                <a:spcPts val="600"/>
              </a:spcAft>
            </a:pPr>
            <a:r>
              <a:rPr lang="en-GB" sz="3400" dirty="0">
                <a:solidFill>
                  <a:schemeClr val="accent6">
                    <a:lumMod val="50000"/>
                  </a:schemeClr>
                </a:solidFill>
              </a:rPr>
              <a:t>Connect with others- Menopause Together NI</a:t>
            </a:r>
          </a:p>
          <a:p>
            <a:pPr>
              <a:lnSpc>
                <a:spcPct val="120000"/>
              </a:lnSpc>
              <a:spcAft>
                <a:spcPts val="600"/>
              </a:spcAft>
            </a:pPr>
            <a:r>
              <a:rPr lang="en-GB" sz="3400" b="1" dirty="0">
                <a:solidFill>
                  <a:schemeClr val="accent6">
                    <a:lumMod val="50000"/>
                  </a:schemeClr>
                </a:solidFill>
              </a:rPr>
              <a:t>Prioritise self-care</a:t>
            </a:r>
          </a:p>
          <a:p>
            <a:pPr>
              <a:lnSpc>
                <a:spcPct val="90000"/>
              </a:lnSpc>
            </a:pPr>
            <a:endParaRPr lang="en-GB" sz="1300" dirty="0"/>
          </a:p>
          <a:p>
            <a:pPr>
              <a:lnSpc>
                <a:spcPct val="90000"/>
              </a:lnSpc>
            </a:pPr>
            <a:endParaRPr lang="en-GB" sz="1300" dirty="0"/>
          </a:p>
        </p:txBody>
      </p:sp>
      <p:pic>
        <p:nvPicPr>
          <p:cNvPr id="9" name="Picture 8">
            <a:extLst>
              <a:ext uri="{FF2B5EF4-FFF2-40B4-BE49-F238E27FC236}">
                <a16:creationId xmlns:a16="http://schemas.microsoft.com/office/drawing/2014/main" id="{0BEBBA60-CD72-2BE0-8C05-5761B47F4826}"/>
              </a:ext>
            </a:extLst>
          </p:cNvPr>
          <p:cNvPicPr>
            <a:picLocks noChangeAspect="1"/>
          </p:cNvPicPr>
          <p:nvPr/>
        </p:nvPicPr>
        <p:blipFill rotWithShape="1">
          <a:blip r:embed="rId2">
            <a:clrChange>
              <a:clrFrom>
                <a:srgbClr val="FFFFFF"/>
              </a:clrFrom>
              <a:clrTo>
                <a:srgbClr val="FFFFFF">
                  <a:alpha val="0"/>
                </a:srgbClr>
              </a:clrTo>
            </a:clrChange>
          </a:blip>
          <a:srcRect l="4525"/>
          <a:stretch/>
        </p:blipFill>
        <p:spPr>
          <a:xfrm>
            <a:off x="528034" y="2060574"/>
            <a:ext cx="3016518" cy="3369403"/>
          </a:xfrm>
          <a:prstGeom prst="rect">
            <a:avLst/>
          </a:prstGeom>
        </p:spPr>
      </p:pic>
    </p:spTree>
    <p:extLst>
      <p:ext uri="{BB962C8B-B14F-4D97-AF65-F5344CB8AC3E}">
        <p14:creationId xmlns:p14="http://schemas.microsoft.com/office/powerpoint/2010/main" val="4265641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2CBE5-D3BD-5407-5184-10F0A8156E2C}"/>
              </a:ext>
            </a:extLst>
          </p:cNvPr>
          <p:cNvSpPr>
            <a:spLocks noGrp="1"/>
          </p:cNvSpPr>
          <p:nvPr>
            <p:ph type="title"/>
          </p:nvPr>
        </p:nvSpPr>
        <p:spPr>
          <a:xfrm>
            <a:off x="1097280" y="286604"/>
            <a:ext cx="10058400" cy="1041454"/>
          </a:xfrm>
        </p:spPr>
        <p:txBody>
          <a:bodyPr>
            <a:normAutofit/>
          </a:bodyPr>
          <a:lstStyle/>
          <a:p>
            <a:r>
              <a:rPr lang="en-GB" dirty="0">
                <a:ea typeface="+mj-lt"/>
                <a:cs typeface="+mj-lt"/>
              </a:rPr>
              <a:t>Self Help Resources </a:t>
            </a:r>
            <a:endParaRPr lang="en-GB" dirty="0"/>
          </a:p>
        </p:txBody>
      </p:sp>
      <p:sp>
        <p:nvSpPr>
          <p:cNvPr id="3" name="Content Placeholder 2">
            <a:extLst>
              <a:ext uri="{FF2B5EF4-FFF2-40B4-BE49-F238E27FC236}">
                <a16:creationId xmlns:a16="http://schemas.microsoft.com/office/drawing/2014/main" id="{5D259FCA-3A77-F78A-639A-D9AB4ED86680}"/>
              </a:ext>
            </a:extLst>
          </p:cNvPr>
          <p:cNvSpPr>
            <a:spLocks noGrp="1"/>
          </p:cNvSpPr>
          <p:nvPr>
            <p:ph idx="1"/>
          </p:nvPr>
        </p:nvSpPr>
        <p:spPr/>
        <p:txBody>
          <a:bodyPr vert="horz" lIns="91440" tIns="45720" rIns="91440" bIns="45720" rtlCol="0" anchor="t">
            <a:normAutofit/>
          </a:bodyPr>
          <a:lstStyle/>
          <a:p>
            <a:pPr marL="0" indent="0">
              <a:buNone/>
            </a:pPr>
            <a:r>
              <a:rPr lang="en-GB" dirty="0"/>
              <a:t>• </a:t>
            </a:r>
            <a:r>
              <a:rPr lang="en-GB" sz="2400" dirty="0"/>
              <a:t>Overcoming Anxiety: A Self-help Guide to Using CBT, Helen Kennerley </a:t>
            </a:r>
          </a:p>
          <a:p>
            <a:pPr marL="0" indent="0">
              <a:buNone/>
            </a:pPr>
            <a:r>
              <a:rPr lang="en-GB" sz="2400" dirty="0"/>
              <a:t>• Living Well through the Menopause: an evidence-based cognitive behavioural guide, Myra Hunter &amp; Melanie Smith. </a:t>
            </a:r>
          </a:p>
          <a:p>
            <a:pPr marL="0" indent="0">
              <a:buNone/>
            </a:pPr>
            <a:r>
              <a:rPr lang="en-GB" sz="2400" dirty="0"/>
              <a:t>• Overcoming Depression and Low Mood: A Five Areas Approach, Chris Williams </a:t>
            </a:r>
          </a:p>
          <a:p>
            <a:pPr marL="0" indent="0">
              <a:buNone/>
            </a:pPr>
            <a:r>
              <a:rPr lang="en-GB" sz="2400" dirty="0"/>
              <a:t>• Managing hot flushes and night sweats: a cognitive behavioural approach to menopause, Myra Hunter &amp; Melanie Smith </a:t>
            </a:r>
          </a:p>
          <a:p>
            <a:pPr marL="0" indent="0">
              <a:buNone/>
            </a:pPr>
            <a:r>
              <a:rPr lang="en-GB" sz="2400" dirty="0"/>
              <a:t>• Overcoming Insomnia and Sleep Problems: A Self-help Guide to Using CBT, Colin A. Espie</a:t>
            </a:r>
          </a:p>
        </p:txBody>
      </p:sp>
    </p:spTree>
    <p:extLst>
      <p:ext uri="{BB962C8B-B14F-4D97-AF65-F5344CB8AC3E}">
        <p14:creationId xmlns:p14="http://schemas.microsoft.com/office/powerpoint/2010/main" val="2698598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772A4-91E8-DF7B-05FE-638488E286C4}"/>
              </a:ext>
            </a:extLst>
          </p:cNvPr>
          <p:cNvSpPr>
            <a:spLocks noGrp="1"/>
          </p:cNvSpPr>
          <p:nvPr>
            <p:ph type="title"/>
          </p:nvPr>
        </p:nvSpPr>
        <p:spPr>
          <a:xfrm>
            <a:off x="1097280" y="286604"/>
            <a:ext cx="10058400" cy="751622"/>
          </a:xfrm>
        </p:spPr>
        <p:txBody>
          <a:bodyPr/>
          <a:lstStyle/>
          <a:p>
            <a:r>
              <a:rPr lang="en-GB" dirty="0"/>
              <a:t>References </a:t>
            </a:r>
          </a:p>
        </p:txBody>
      </p:sp>
      <p:sp>
        <p:nvSpPr>
          <p:cNvPr id="3" name="Content Placeholder 2">
            <a:extLst>
              <a:ext uri="{FF2B5EF4-FFF2-40B4-BE49-F238E27FC236}">
                <a16:creationId xmlns:a16="http://schemas.microsoft.com/office/drawing/2014/main" id="{115E5F46-3EBB-9E31-876A-D9DB4DB44276}"/>
              </a:ext>
            </a:extLst>
          </p:cNvPr>
          <p:cNvSpPr>
            <a:spLocks noGrp="1"/>
          </p:cNvSpPr>
          <p:nvPr>
            <p:ph idx="1"/>
          </p:nvPr>
        </p:nvSpPr>
        <p:spPr>
          <a:xfrm>
            <a:off x="1097280" y="1457325"/>
            <a:ext cx="10058400" cy="4736645"/>
          </a:xfrm>
        </p:spPr>
        <p:txBody>
          <a:bodyPr vert="horz" lIns="91440" tIns="45720" rIns="91440" bIns="45720" rtlCol="0" anchor="t">
            <a:normAutofit/>
          </a:bodyPr>
          <a:lstStyle/>
          <a:p>
            <a:r>
              <a:rPr lang="en-GB" sz="1600" dirty="0">
                <a:solidFill>
                  <a:schemeClr val="tx1"/>
                </a:solidFill>
              </a:rPr>
              <a:t>Mental health Foundation </a:t>
            </a:r>
            <a:r>
              <a:rPr lang="en-GB" sz="1600" dirty="0">
                <a:solidFill>
                  <a:schemeClr val="tx1"/>
                </a:solidFill>
                <a:ea typeface="+mn-lt"/>
                <a:cs typeface="+mn-lt"/>
                <a:hlinkClick r:id="rId2">
                  <a:extLst>
                    <a:ext uri="{A12FA001-AC4F-418D-AE19-62706E023703}">
                      <ahyp:hlinkClr xmlns:ahyp="http://schemas.microsoft.com/office/drawing/2018/hyperlinkcolor" val="tx"/>
                    </a:ext>
                  </a:extLst>
                </a:hlinkClick>
              </a:rPr>
              <a:t>Menopause | Mental Health Foundation</a:t>
            </a:r>
          </a:p>
          <a:p>
            <a:r>
              <a:rPr lang="en-GB" sz="1600" dirty="0">
                <a:solidFill>
                  <a:schemeClr val="tx1"/>
                </a:solidFill>
                <a:ea typeface="+mn-lt"/>
                <a:cs typeface="+mn-lt"/>
              </a:rPr>
              <a:t>BABCP </a:t>
            </a:r>
            <a:r>
              <a:rPr lang="en-GB" sz="1600" dirty="0">
                <a:solidFill>
                  <a:schemeClr val="tx1"/>
                </a:solidFill>
                <a:ea typeface="+mn-lt"/>
                <a:cs typeface="+mn-lt"/>
                <a:hlinkClick r:id="rId3">
                  <a:extLst>
                    <a:ext uri="{A12FA001-AC4F-418D-AE19-62706E023703}">
                      <ahyp:hlinkClr xmlns:ahyp="http://schemas.microsoft.com/office/drawing/2018/hyperlinkcolor" val="tx"/>
                    </a:ext>
                  </a:extLst>
                </a:hlinkClick>
              </a:rPr>
              <a:t>What is CBT? (babcp.com)</a:t>
            </a:r>
            <a:endParaRPr lang="en-GB" sz="1600" dirty="0">
              <a:solidFill>
                <a:schemeClr val="tx1"/>
              </a:solidFill>
            </a:endParaRPr>
          </a:p>
          <a:p>
            <a:r>
              <a:rPr lang="en-GB" sz="1600" dirty="0">
                <a:solidFill>
                  <a:schemeClr val="tx1"/>
                </a:solidFill>
              </a:rPr>
              <a:t>Techniques</a:t>
            </a:r>
          </a:p>
          <a:p>
            <a:r>
              <a:rPr lang="en-GB" sz="1600" dirty="0">
                <a:solidFill>
                  <a:schemeClr val="tx1"/>
                </a:solidFill>
              </a:rPr>
              <a:t>Sources</a:t>
            </a:r>
          </a:p>
          <a:p>
            <a:r>
              <a:rPr lang="en-GB" sz="1600" dirty="0">
                <a:solidFill>
                  <a:schemeClr val="tx1"/>
                </a:solidFill>
                <a:cs typeface="helvetica"/>
                <a:hlinkClick r:id="rId4">
                  <a:extLst>
                    <a:ext uri="{A12FA001-AC4F-418D-AE19-62706E023703}">
                      <ahyp:hlinkClr xmlns:ahyp="http://schemas.microsoft.com/office/drawing/2018/hyperlinkcolor" val="tx"/>
                    </a:ext>
                  </a:extLst>
                </a:hlinkClick>
              </a:rPr>
              <a:t>https://www.nice.org.uk/guidance/NG23</a:t>
            </a:r>
            <a:endParaRPr lang="en-GB" sz="1600" dirty="0">
              <a:solidFill>
                <a:schemeClr val="tx1"/>
              </a:solidFill>
            </a:endParaRPr>
          </a:p>
          <a:p>
            <a:r>
              <a:rPr lang="en-GB" sz="1600" dirty="0">
                <a:solidFill>
                  <a:schemeClr val="tx1"/>
                </a:solidFill>
                <a:cs typeface="helvetica"/>
                <a:hlinkClick r:id="rId5">
                  <a:extLst>
                    <a:ext uri="{A12FA001-AC4F-418D-AE19-62706E023703}">
                      <ahyp:hlinkClr xmlns:ahyp="http://schemas.microsoft.com/office/drawing/2018/hyperlinkcolor" val="tx"/>
                    </a:ext>
                  </a:extLst>
                </a:hlinkClick>
              </a:rPr>
              <a:t>https://pubmed.ncbi.nlm.nih.gov/32627593/</a:t>
            </a:r>
            <a:endParaRPr lang="en-GB" sz="1600" dirty="0">
              <a:solidFill>
                <a:schemeClr val="tx1"/>
              </a:solidFill>
            </a:endParaRPr>
          </a:p>
          <a:p>
            <a:r>
              <a:rPr lang="en-GB" sz="1600" dirty="0">
                <a:solidFill>
                  <a:schemeClr val="tx1"/>
                </a:solidFill>
                <a:cs typeface="helvetica"/>
                <a:hlinkClick r:id="rId6">
                  <a:extLst>
                    <a:ext uri="{A12FA001-AC4F-418D-AE19-62706E023703}">
                      <ahyp:hlinkClr xmlns:ahyp="http://schemas.microsoft.com/office/drawing/2018/hyperlinkcolor" val="tx"/>
                    </a:ext>
                  </a:extLst>
                </a:hlinkClick>
              </a:rPr>
              <a:t>https://pubmed.ncbi.nlm.nih.gov/22336748/</a:t>
            </a:r>
            <a:endParaRPr lang="en-GB" sz="1600" dirty="0">
              <a:solidFill>
                <a:schemeClr val="tx1"/>
              </a:solidFill>
            </a:endParaRPr>
          </a:p>
          <a:p>
            <a:r>
              <a:rPr lang="en-GB" sz="1600" dirty="0">
                <a:solidFill>
                  <a:schemeClr val="tx1"/>
                </a:solidFill>
                <a:cs typeface="helvetica"/>
                <a:hlinkClick r:id="rId7">
                  <a:extLst>
                    <a:ext uri="{A12FA001-AC4F-418D-AE19-62706E023703}">
                      <ahyp:hlinkClr xmlns:ahyp="http://schemas.microsoft.com/office/drawing/2018/hyperlinkcolor" val="tx"/>
                    </a:ext>
                  </a:extLst>
                </a:hlinkClick>
              </a:rPr>
              <a:t>https://www.nice.org.uk/guidance/ng23/resources/endorsed-resource-cognitive-behaviour-therapy-for-menopausal-symptoms-information-for-gps-and-health-professionals-4414178557</a:t>
            </a:r>
            <a:endParaRPr lang="en-GB" sz="1600" dirty="0">
              <a:solidFill>
                <a:schemeClr val="tx1"/>
              </a:solidFill>
            </a:endParaRPr>
          </a:p>
          <a:p>
            <a:r>
              <a:rPr lang="en-GB" sz="1600" dirty="0">
                <a:solidFill>
                  <a:schemeClr val="tx1"/>
                </a:solidFill>
                <a:cs typeface="helvetica"/>
                <a:hlinkClick r:id="rId8">
                  <a:extLst>
                    <a:ext uri="{A12FA001-AC4F-418D-AE19-62706E023703}">
                      <ahyp:hlinkClr xmlns:ahyp="http://schemas.microsoft.com/office/drawing/2018/hyperlinkcolor" val="tx"/>
                    </a:ext>
                  </a:extLst>
                </a:hlinkClick>
              </a:rPr>
              <a:t>https://www.sciencedirect.com/science/article/abs/pii/S1521693421001693?via%3Dihub</a:t>
            </a:r>
            <a:endParaRPr lang="en-GB" sz="1600" dirty="0">
              <a:solidFill>
                <a:schemeClr val="tx1"/>
              </a:solidFill>
            </a:endParaRPr>
          </a:p>
          <a:p>
            <a:r>
              <a:rPr lang="en-GB" sz="1600" dirty="0">
                <a:solidFill>
                  <a:schemeClr val="tx1"/>
                </a:solidFill>
                <a:ea typeface="+mn-lt"/>
                <a:cs typeface="+mn-lt"/>
              </a:rPr>
              <a:t>Cognitive Behaviour Therapy (CBT) for Menopausal Symptoms WOMEN’S HEALTH CONCERN FACT SHEET</a:t>
            </a:r>
          </a:p>
          <a:p>
            <a:r>
              <a:rPr lang="en-GB" sz="1600" dirty="0">
                <a:solidFill>
                  <a:schemeClr val="tx1"/>
                </a:solidFill>
                <a:ea typeface="+mn-lt"/>
                <a:cs typeface="+mn-lt"/>
              </a:rPr>
              <a:t>World Health Organisation Mental Health </a:t>
            </a:r>
            <a:r>
              <a:rPr lang="en-GB" sz="1600" dirty="0">
                <a:solidFill>
                  <a:schemeClr val="tx1"/>
                </a:solidFill>
                <a:ea typeface="+mn-lt"/>
                <a:cs typeface="+mn-lt"/>
                <a:hlinkClick r:id="rId9">
                  <a:extLst>
                    <a:ext uri="{A12FA001-AC4F-418D-AE19-62706E023703}">
                      <ahyp:hlinkClr xmlns:ahyp="http://schemas.microsoft.com/office/drawing/2018/hyperlinkcolor" val="tx"/>
                    </a:ext>
                  </a:extLst>
                </a:hlinkClick>
              </a:rPr>
              <a:t>Mental health (who.int)</a:t>
            </a:r>
            <a:endParaRPr lang="en-GB" sz="1600" dirty="0">
              <a:solidFill>
                <a:schemeClr val="tx1"/>
              </a:solidFill>
            </a:endParaRPr>
          </a:p>
          <a:p>
            <a:endParaRPr lang="en-GB" dirty="0"/>
          </a:p>
        </p:txBody>
      </p:sp>
    </p:spTree>
    <p:extLst>
      <p:ext uri="{BB962C8B-B14F-4D97-AF65-F5344CB8AC3E}">
        <p14:creationId xmlns:p14="http://schemas.microsoft.com/office/powerpoint/2010/main" val="30596758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EA49D-9F54-3B56-D40D-AE1C4AE25536}"/>
              </a:ext>
            </a:extLst>
          </p:cNvPr>
          <p:cNvSpPr>
            <a:spLocks noGrp="1"/>
          </p:cNvSpPr>
          <p:nvPr>
            <p:ph type="title"/>
          </p:nvPr>
        </p:nvSpPr>
        <p:spPr>
          <a:xfrm>
            <a:off x="1097280" y="286603"/>
            <a:ext cx="10058400" cy="1711728"/>
          </a:xfrm>
        </p:spPr>
        <p:txBody>
          <a:bodyPr/>
          <a:lstStyle/>
          <a:p>
            <a:r>
              <a:rPr lang="en-GB" sz="1800" b="1" kern="0" cap="all" spc="150" dirty="0">
                <a:solidFill>
                  <a:srgbClr val="1B1B1B"/>
                </a:solidFill>
                <a:effectLst/>
                <a:highlight>
                  <a:srgbClr val="FFFFFF"/>
                </a:highlight>
                <a:latin typeface="Oswald" panose="00000500000000000000" pitchFamily="2" charset="0"/>
                <a:ea typeface="Times New Roman" panose="02020603050405020304" pitchFamily="18" charset="0"/>
                <a:cs typeface="Arial" panose="020B0604020202020204" pitchFamily="34" charset="0"/>
              </a:rPr>
              <a:t>PRIORITISING WOMEN'S HEALTH</a:t>
            </a:r>
            <a:br>
              <a:rPr lang="en-GB"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rPr>
            </a:br>
            <a:r>
              <a:rPr lang="en-GB" sz="3200" u="sng" kern="0" dirty="0">
                <a:ea typeface="Times New Roman" panose="02020603050405020304" pitchFamily="18" charset="0"/>
                <a:hlinkClick r:id="rId2"/>
              </a:rPr>
              <a:t>www.menopausetogether.org</a:t>
            </a:r>
            <a:br>
              <a:rPr lang="en-GB" sz="3200" u="sng" kern="0" dirty="0">
                <a:ea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E6142517-B6FE-97D7-E62D-ED658A23B0A3}"/>
              </a:ext>
            </a:extLst>
          </p:cNvPr>
          <p:cNvSpPr>
            <a:spLocks noGrp="1"/>
          </p:cNvSpPr>
          <p:nvPr>
            <p:ph idx="1"/>
          </p:nvPr>
        </p:nvSpPr>
        <p:spPr/>
        <p:txBody>
          <a:bodyPr/>
          <a:lstStyle/>
          <a:p>
            <a:pPr>
              <a:spcBef>
                <a:spcPts val="1800"/>
              </a:spcBef>
            </a:pPr>
            <a:r>
              <a:rPr lang="en-GB" sz="1800" b="1" kern="0" cap="all" spc="150" dirty="0">
                <a:solidFill>
                  <a:srgbClr val="1B1B1B"/>
                </a:solidFill>
                <a:effectLst/>
                <a:highlight>
                  <a:srgbClr val="FFFFFF"/>
                </a:highlight>
                <a:latin typeface="Oswald" panose="00000500000000000000" pitchFamily="2" charset="0"/>
                <a:ea typeface="Times New Roman" panose="02020603050405020304" pitchFamily="18" charset="0"/>
                <a:cs typeface="Arial" panose="020B0604020202020204" pitchFamily="34" charset="0"/>
              </a:rPr>
              <a:t>EDUCATION - </a:t>
            </a:r>
            <a:r>
              <a:rPr lang="en-GB" sz="1800" kern="0" dirty="0">
                <a:solidFill>
                  <a:srgbClr val="1B1B1B"/>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Here at Menopause Together, we believe an educated woman is a powerful one.  For too long, women have been kept in the dark about their own bodies and health. We're on a mission to change that.  Learn about yourself, and others and how to feel better alongside a community of like-minded individuals.</a:t>
            </a:r>
          </a:p>
          <a:p>
            <a:pPr>
              <a:spcBef>
                <a:spcPts val="1800"/>
              </a:spcBef>
            </a:pPr>
            <a:r>
              <a:rPr lang="en-GB" sz="1800" b="1" kern="0" cap="all" spc="150" dirty="0">
                <a:solidFill>
                  <a:srgbClr val="1B1B1B"/>
                </a:solidFill>
                <a:effectLst/>
                <a:highlight>
                  <a:srgbClr val="FFFFFF"/>
                </a:highlight>
                <a:latin typeface="Oswald" panose="00000500000000000000" pitchFamily="2" charset="0"/>
                <a:ea typeface="Times New Roman" panose="02020603050405020304" pitchFamily="18" charset="0"/>
                <a:cs typeface="Arial" panose="020B0604020202020204" pitchFamily="34" charset="0"/>
              </a:rPr>
              <a:t>SUPPORT</a:t>
            </a:r>
            <a:r>
              <a:rPr lang="en-GB" sz="1800" b="1" kern="100" cap="all" spc="150" dirty="0">
                <a:highlight>
                  <a:srgbClr val="FFFFFF"/>
                </a:highlight>
                <a:latin typeface="Aptos" panose="020B0004020202020204" pitchFamily="34" charset="0"/>
                <a:ea typeface="Times New Roman" panose="02020603050405020304" pitchFamily="18" charset="0"/>
                <a:cs typeface="Times New Roman" panose="02020603050405020304" pitchFamily="18" charset="0"/>
              </a:rPr>
              <a:t> - </a:t>
            </a:r>
            <a:r>
              <a:rPr lang="en-GB" sz="1800" kern="0" dirty="0">
                <a:solidFill>
                  <a:srgbClr val="1B1B1B"/>
                </a:solidFill>
                <a:effectLst/>
                <a:latin typeface="Arial" panose="020B0604020202020204" pitchFamily="34" charset="0"/>
                <a:ea typeface="Times New Roman" panose="02020603050405020304" pitchFamily="18" charset="0"/>
              </a:rPr>
              <a:t>There's magic in sharing our experiences. We want to remind you that you're not alone, what you're experiencing is normal, and it's your right to have a space to share, connect and feel validated for what you're going through.   We're in this together</a:t>
            </a:r>
            <a:endParaRPr lang="en-GB"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pPr>
              <a:spcBef>
                <a:spcPts val="1800"/>
              </a:spcBef>
            </a:pPr>
            <a:r>
              <a:rPr lang="en-GB" sz="1800" b="1" kern="0" cap="all" spc="150" dirty="0">
                <a:solidFill>
                  <a:srgbClr val="1B1B1B"/>
                </a:solidFill>
                <a:effectLst/>
                <a:highlight>
                  <a:srgbClr val="FFFFFF"/>
                </a:highlight>
                <a:latin typeface="Oswald" panose="00000500000000000000" pitchFamily="2" charset="0"/>
                <a:ea typeface="Times New Roman" panose="02020603050405020304" pitchFamily="18" charset="0"/>
                <a:cs typeface="Arial" panose="020B0604020202020204" pitchFamily="34" charset="0"/>
              </a:rPr>
              <a:t>COMMUNITY - </a:t>
            </a:r>
            <a:r>
              <a:rPr lang="en-GB" sz="1800" kern="0" dirty="0">
                <a:solidFill>
                  <a:srgbClr val="1B1B1B"/>
                </a:solidFill>
                <a:effectLst/>
                <a:highlight>
                  <a:srgbClr val="FFFFFF"/>
                </a:highlight>
                <a:latin typeface="Arial" panose="020B0604020202020204" pitchFamily="34" charset="0"/>
                <a:ea typeface="Times New Roman" panose="02020603050405020304" pitchFamily="18" charset="0"/>
                <a:cs typeface="Times New Roman" panose="02020603050405020304" pitchFamily="18" charset="0"/>
              </a:rPr>
              <a:t>When strong women come together, there's no end to what we can do. Community is crucial and we're dedicated to connecting as many women across NI and beyond together. Events, educational workshops, social gatherings and useful info-sessions are the building blocks of our work and we welcome you warmly. </a:t>
            </a:r>
            <a:endParaRPr lang="en-GB" sz="1800" kern="100" dirty="0">
              <a:effectLst/>
              <a:highlight>
                <a:srgbClr val="FFFFFF"/>
              </a:highlight>
              <a:latin typeface="Aptos" panose="020B0004020202020204" pitchFamily="34" charset="0"/>
              <a:ea typeface="Aptos" panose="020B0004020202020204" pitchFamily="34" charset="0"/>
              <a:cs typeface="Times New Roman" panose="02020603050405020304" pitchFamily="18" charset="0"/>
            </a:endParaRPr>
          </a:p>
          <a:p>
            <a:endParaRPr lang="en-GB" dirty="0"/>
          </a:p>
        </p:txBody>
      </p:sp>
      <p:pic>
        <p:nvPicPr>
          <p:cNvPr id="9" name="Picture 8" descr="A blue hands and a heart&#10;&#10;Description automatically generated">
            <a:extLst>
              <a:ext uri="{FF2B5EF4-FFF2-40B4-BE49-F238E27FC236}">
                <a16:creationId xmlns:a16="http://schemas.microsoft.com/office/drawing/2014/main" id="{9BC7A386-1CB3-99F3-3127-0289D19D7AB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10414" y="4890730"/>
            <a:ext cx="2790825" cy="1395095"/>
          </a:xfrm>
          <a:prstGeom prst="rect">
            <a:avLst/>
          </a:prstGeom>
          <a:noFill/>
          <a:ln>
            <a:noFill/>
          </a:ln>
        </p:spPr>
      </p:pic>
      <p:pic>
        <p:nvPicPr>
          <p:cNvPr id="10" name="Picture 9" descr="A logo of hands holding each other&#10;&#10;Description automatically generated">
            <a:extLst>
              <a:ext uri="{FF2B5EF4-FFF2-40B4-BE49-F238E27FC236}">
                <a16:creationId xmlns:a16="http://schemas.microsoft.com/office/drawing/2014/main" id="{755642C9-F209-B8A0-AEE7-00F4D0DD06F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996114" y="127353"/>
            <a:ext cx="2905125" cy="1452245"/>
          </a:xfrm>
          <a:prstGeom prst="rect">
            <a:avLst/>
          </a:prstGeom>
          <a:noFill/>
          <a:ln>
            <a:noFill/>
          </a:ln>
        </p:spPr>
      </p:pic>
    </p:spTree>
    <p:extLst>
      <p:ext uri="{BB962C8B-B14F-4D97-AF65-F5344CB8AC3E}">
        <p14:creationId xmlns:p14="http://schemas.microsoft.com/office/powerpoint/2010/main" val="627455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68FC0-62B9-9CE8-822F-AE16C953657A}"/>
              </a:ext>
            </a:extLst>
          </p:cNvPr>
          <p:cNvSpPr>
            <a:spLocks noGrp="1"/>
          </p:cNvSpPr>
          <p:nvPr>
            <p:ph type="title"/>
          </p:nvPr>
        </p:nvSpPr>
        <p:spPr/>
        <p:txBody>
          <a:bodyPr/>
          <a:lstStyle/>
          <a:p>
            <a:r>
              <a:rPr lang="en-GB" dirty="0"/>
              <a:t>Reflection </a:t>
            </a:r>
          </a:p>
        </p:txBody>
      </p:sp>
      <p:sp>
        <p:nvSpPr>
          <p:cNvPr id="3" name="Content Placeholder 2">
            <a:extLst>
              <a:ext uri="{FF2B5EF4-FFF2-40B4-BE49-F238E27FC236}">
                <a16:creationId xmlns:a16="http://schemas.microsoft.com/office/drawing/2014/main" id="{9F32310F-B403-8EFF-2260-DA1C10B38545}"/>
              </a:ext>
            </a:extLst>
          </p:cNvPr>
          <p:cNvSpPr>
            <a:spLocks noGrp="1"/>
          </p:cNvSpPr>
          <p:nvPr>
            <p:ph idx="1"/>
          </p:nvPr>
        </p:nvSpPr>
        <p:spPr/>
        <p:txBody>
          <a:bodyPr>
            <a:normAutofit lnSpcReduction="10000"/>
          </a:bodyPr>
          <a:lstStyle/>
          <a:p>
            <a:r>
              <a:rPr lang="en-GB" sz="3200" b="1" dirty="0"/>
              <a:t>CARE</a:t>
            </a:r>
          </a:p>
          <a:p>
            <a:r>
              <a:rPr lang="en-GB" dirty="0"/>
              <a:t>In those moments when you want to care for the whole world</a:t>
            </a:r>
          </a:p>
          <a:p>
            <a:r>
              <a:rPr lang="en-GB" dirty="0"/>
              <a:t>Remember that in you is also the whole of the world</a:t>
            </a:r>
          </a:p>
          <a:p>
            <a:r>
              <a:rPr lang="en-GB" dirty="0"/>
              <a:t>And you can only begin here – </a:t>
            </a:r>
          </a:p>
          <a:p>
            <a:r>
              <a:rPr lang="en-GB" dirty="0"/>
              <a:t>Caring for this skin,</a:t>
            </a:r>
          </a:p>
          <a:p>
            <a:r>
              <a:rPr lang="en-GB" dirty="0"/>
              <a:t>These bones, this heart.</a:t>
            </a:r>
          </a:p>
          <a:p>
            <a:r>
              <a:rPr lang="en-GB" dirty="0"/>
              <a:t>Delve deep into caring, and every cell</a:t>
            </a:r>
          </a:p>
          <a:p>
            <a:r>
              <a:rPr lang="en-GB" dirty="0"/>
              <a:t>Becomes a temple in which to honour the world</a:t>
            </a:r>
          </a:p>
          <a:p>
            <a:pPr algn="r"/>
            <a:r>
              <a:rPr lang="en-GB" i="1" dirty="0"/>
              <a:t>By Rachel Holstead </a:t>
            </a:r>
          </a:p>
        </p:txBody>
      </p:sp>
    </p:spTree>
    <p:extLst>
      <p:ext uri="{BB962C8B-B14F-4D97-AF65-F5344CB8AC3E}">
        <p14:creationId xmlns:p14="http://schemas.microsoft.com/office/powerpoint/2010/main" val="3979888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8B2580E-A87A-41F6-38E9-B07228352C1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389633" y="2075650"/>
            <a:ext cx="3753196" cy="1093124"/>
          </a:xfrm>
          <a:prstGeom prst="rect">
            <a:avLst/>
          </a:prstGeom>
          <a:noFill/>
          <a:ln>
            <a:noFill/>
          </a:ln>
        </p:spPr>
      </p:pic>
      <p:sp>
        <p:nvSpPr>
          <p:cNvPr id="6" name="TextBox 5">
            <a:extLst>
              <a:ext uri="{FF2B5EF4-FFF2-40B4-BE49-F238E27FC236}">
                <a16:creationId xmlns:a16="http://schemas.microsoft.com/office/drawing/2014/main" id="{BA3DE070-3233-D959-BF2E-8C903BC62985}"/>
              </a:ext>
            </a:extLst>
          </p:cNvPr>
          <p:cNvSpPr txBox="1"/>
          <p:nvPr/>
        </p:nvSpPr>
        <p:spPr>
          <a:xfrm>
            <a:off x="968223" y="3969879"/>
            <a:ext cx="6094378" cy="646331"/>
          </a:xfrm>
          <a:prstGeom prst="rect">
            <a:avLst/>
          </a:prstGeom>
          <a:noFill/>
        </p:spPr>
        <p:txBody>
          <a:bodyPr wrap="square">
            <a:spAutoFit/>
          </a:bodyPr>
          <a:lstStyle/>
          <a:p>
            <a:r>
              <a:rPr lang="en-GB" dirty="0"/>
              <a:t>https://www.fermanaghomagh.com/services/health-wellbeing/</a:t>
            </a:r>
          </a:p>
        </p:txBody>
      </p:sp>
      <p:pic>
        <p:nvPicPr>
          <p:cNvPr id="1026" name="Picture 2">
            <a:extLst>
              <a:ext uri="{FF2B5EF4-FFF2-40B4-BE49-F238E27FC236}">
                <a16:creationId xmlns:a16="http://schemas.microsoft.com/office/drawing/2014/main" id="{2D8402D8-CCEE-BA22-30CC-B0E2C1E4237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69962" y="1952625"/>
            <a:ext cx="3162300" cy="147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BE98211E-B71B-F59D-DDBB-19BEE80EFC6E}"/>
              </a:ext>
            </a:extLst>
          </p:cNvPr>
          <p:cNvSpPr txBox="1"/>
          <p:nvPr/>
        </p:nvSpPr>
        <p:spPr>
          <a:xfrm>
            <a:off x="7377650" y="3583826"/>
            <a:ext cx="6094562" cy="369332"/>
          </a:xfrm>
          <a:prstGeom prst="rect">
            <a:avLst/>
          </a:prstGeom>
          <a:noFill/>
        </p:spPr>
        <p:txBody>
          <a:bodyPr wrap="square">
            <a:spAutoFit/>
          </a:bodyPr>
          <a:lstStyle/>
          <a:p>
            <a:r>
              <a:rPr lang="en-GB" dirty="0"/>
              <a:t>https://theaislingcentre.com/</a:t>
            </a:r>
          </a:p>
        </p:txBody>
      </p:sp>
    </p:spTree>
    <p:extLst>
      <p:ext uri="{BB962C8B-B14F-4D97-AF65-F5344CB8AC3E}">
        <p14:creationId xmlns:p14="http://schemas.microsoft.com/office/powerpoint/2010/main" val="892528134"/>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EF4DCF226AAC049B165F5C321191625" ma:contentTypeVersion="18" ma:contentTypeDescription="Create a new document." ma:contentTypeScope="" ma:versionID="72e3d6d4853885ef35dd90476cfc3321">
  <xsd:schema xmlns:xsd="http://www.w3.org/2001/XMLSchema" xmlns:xs="http://www.w3.org/2001/XMLSchema" xmlns:p="http://schemas.microsoft.com/office/2006/metadata/properties" xmlns:ns2="3df88938-ea1e-4e89-b819-ea14d1ce3223" xmlns:ns3="3eae46d1-5076-438d-ac50-79efae005672" targetNamespace="http://schemas.microsoft.com/office/2006/metadata/properties" ma:root="true" ma:fieldsID="95e729560275a7add490a758c87f7011" ns2:_="" ns3:_="">
    <xsd:import namespace="3df88938-ea1e-4e89-b819-ea14d1ce3223"/>
    <xsd:import namespace="3eae46d1-5076-438d-ac50-79efae00567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f88938-ea1e-4e89-b819-ea14d1ce322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6ab79d1d-5bee-47f2-94c0-8d5070f2e49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eae46d1-5076-438d-ac50-79efae00567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c9cfe33-1d98-4710-a4c6-ae633ca4d421}" ma:internalName="TaxCatchAll" ma:showField="CatchAllData" ma:web="3eae46d1-5076-438d-ac50-79efae00567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860BBB1-0B20-4D7B-B829-124890F8F4E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df88938-ea1e-4e89-b819-ea14d1ce3223"/>
    <ds:schemaRef ds:uri="3eae46d1-5076-438d-ac50-79efae00567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81FB40D-732E-4894-B7F3-E8C711B21A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451</TotalTime>
  <Words>646</Words>
  <Application>Microsoft Office PowerPoint</Application>
  <PresentationFormat>Widescreen</PresentationFormat>
  <Paragraphs>53</Paragraphs>
  <Slides>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Aptos</vt:lpstr>
      <vt:lpstr>Arial</vt:lpstr>
      <vt:lpstr>Calibri</vt:lpstr>
      <vt:lpstr>Calibri Light</vt:lpstr>
      <vt:lpstr>helvetica</vt:lpstr>
      <vt:lpstr>Montserrat</vt:lpstr>
      <vt:lpstr>Oswald</vt:lpstr>
      <vt:lpstr>Times New Roman</vt:lpstr>
      <vt:lpstr>Retrospect</vt:lpstr>
      <vt:lpstr>Useful Resources</vt:lpstr>
      <vt:lpstr>Dr Latimer’s Top Tips for Managing Menopause</vt:lpstr>
      <vt:lpstr>Self Help Resources </vt:lpstr>
      <vt:lpstr>References </vt:lpstr>
      <vt:lpstr>PRIORITISING WOMEN'S HEALTH www.menopausetogether.org </vt:lpstr>
      <vt:lpstr>Reflection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Andrea Latimer</dc:creator>
  <cp:lastModifiedBy>Fiona Beatty</cp:lastModifiedBy>
  <cp:revision>404</cp:revision>
  <dcterms:created xsi:type="dcterms:W3CDTF">2024-03-27T08:42:39Z</dcterms:created>
  <dcterms:modified xsi:type="dcterms:W3CDTF">2024-05-02T14:48:44Z</dcterms:modified>
</cp:coreProperties>
</file>